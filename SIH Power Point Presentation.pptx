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7" r:id="rId4"/>
    <p:sldId id="290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B5625D-C328-4ED7-B697-AE1E3BCE6B8A}">
          <p14:sldIdLst>
            <p14:sldId id="291"/>
            <p14:sldId id="281"/>
            <p14:sldId id="297"/>
            <p14:sldId id="290"/>
          </p14:sldIdLst>
        </p14:section>
        <p14:section name="Untitled Section" id="{45262D71-B682-4123-BE6E-14EF1E4D1030}">
          <p14:sldIdLst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91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75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74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YashrajMishra98/OSRM_Map_Matching_Model/tree/main" TargetMode="External"/><Relationship Id="rId3" Type="http://schemas.openxmlformats.org/officeDocument/2006/relationships/image" Target="../media/image3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hub.transportation.gov/stories/s/Next-Generation-Simulation-NGSIM-Open-Data/i5zb-xe34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ject-osrm.org/docs/v5.5.1/api/#general-options" TargetMode="External"/><Relationship Id="rId5" Type="http://schemas.openxmlformats.org/officeDocument/2006/relationships/hyperlink" Target="https://r.search.yahoo.com/_ylt=Awr1SWyUBuJmWQQAgpS7HAx.;_ylu=Y29sbwNzZzMEcG9zAzEEdnRpZAMEc2VjA3Ny/RV=2/RE=1727298453/RO=10/RU=https%3a%2f%2fscikit-learn.org%2fstable%2findex.html/RK=2/RS=0ALfzRFoXLyd2cROZA_yWXMIL1c-" TargetMode="External"/><Relationship Id="rId4" Type="http://schemas.openxmlformats.org/officeDocument/2006/relationships/hyperlink" Target="https://keras.io/api/layers/recurrent_layers/lst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205859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24764"/>
            <a:ext cx="8534400" cy="207645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7033" y="181180"/>
            <a:ext cx="9845101" cy="901148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078" y="1035613"/>
            <a:ext cx="6499544" cy="516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</a:t>
            </a:r>
            <a:r>
              <a:rPr lang="en-US" sz="2000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montserratregular"/>
              </a:rPr>
              <a:t>Development of map-matching algorithm using AI-ML techniques to distinguish vehicular movement on highway and service road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000" b="1" i="0" dirty="0">
                <a:solidFill>
                  <a:srgbClr val="00B050"/>
                </a:solidFill>
                <a:effectLst/>
                <a:latin typeface="montserratregular"/>
              </a:rPr>
              <a:t>Smart Automation</a:t>
            </a:r>
            <a:endParaRPr 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Hawks’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3F1E5C-BF26-2934-0B96-0F07EAF8B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029" y="54865"/>
            <a:ext cx="3251200" cy="807335"/>
          </a:xfrm>
        </p:spPr>
        <p:txBody>
          <a:bodyPr/>
          <a:lstStyle/>
          <a:p>
            <a:r>
              <a:rPr lang="en-US" sz="3200" b="1" dirty="0"/>
              <a:t>Idea / approach                            </a:t>
            </a:r>
            <a:endParaRPr lang="en-IN" sz="32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E8425D-6C7C-61A8-5D96-1D1D53106D37}"/>
              </a:ext>
            </a:extLst>
          </p:cNvPr>
          <p:cNvSpPr/>
          <p:nvPr/>
        </p:nvSpPr>
        <p:spPr>
          <a:xfrm>
            <a:off x="237619" y="862996"/>
            <a:ext cx="6222175" cy="53280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Start with collecting GNSS data and Electronic Map.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Train the LSTM Model with a given Training Examples and then use further.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Diffused coordinates from GNSS data is filtered by using </a:t>
            </a:r>
            <a:r>
              <a:rPr lang="en-US" sz="1600" b="1" u="sng" dirty="0">
                <a:solidFill>
                  <a:srgbClr val="010000"/>
                </a:solidFill>
              </a:rPr>
              <a:t>LSTM Model</a:t>
            </a:r>
            <a:r>
              <a:rPr lang="en-US" sz="1600" dirty="0">
                <a:solidFill>
                  <a:srgbClr val="01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LSTM Model and SSR Service will also help to provide precise Co-Ordinates tracing the missing coordinates in case of breakage of GNSS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Extract features like Co-Ordinates, Speed, Heading, and type of road.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Implement the </a:t>
            </a:r>
            <a:r>
              <a:rPr lang="en-US" sz="1600" b="1" u="sng" dirty="0">
                <a:solidFill>
                  <a:srgbClr val="010000"/>
                </a:solidFill>
              </a:rPr>
              <a:t>OSRM Model </a:t>
            </a:r>
            <a:r>
              <a:rPr lang="en-US" sz="1600" dirty="0">
                <a:solidFill>
                  <a:srgbClr val="010000"/>
                </a:solidFill>
              </a:rPr>
              <a:t>to match the vehicle’s filtered coordinates to the correct road segment. Once the data is cleaned and feature extraction is complete, train an ML model using  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Scikit-Learn, </a:t>
            </a:r>
            <a:r>
              <a:rPr lang="en-US" sz="1600" b="1" dirty="0" err="1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Py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-Torch and </a:t>
            </a:r>
            <a:r>
              <a:rPr lang="en-US" sz="1600" b="1" dirty="0" err="1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Tensorflow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Keras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1600" dirty="0">
              <a:solidFill>
                <a:srgbClr val="01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Extract features like Velocity, Route Segments and Type of Route.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When the model is performing optimally, deploy on </a:t>
            </a:r>
            <a:r>
              <a:rPr lang="en-US" sz="1600" b="1" u="sng" dirty="0">
                <a:solidFill>
                  <a:srgbClr val="010000"/>
                </a:solidFill>
              </a:rPr>
              <a:t>Netlify.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The model can now be used for real-time inference, receiving live GNSS data and </a:t>
            </a:r>
            <a:r>
              <a:rPr lang="en-US" sz="1600" dirty="0" err="1">
                <a:solidFill>
                  <a:srgbClr val="010000"/>
                </a:solidFill>
              </a:rPr>
              <a:t>outputing</a:t>
            </a:r>
            <a:r>
              <a:rPr lang="en-US" sz="1600" dirty="0">
                <a:solidFill>
                  <a:srgbClr val="010000"/>
                </a:solidFill>
              </a:rPr>
              <a:t> the type of road (highway or service road).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</a:rPr>
              <a:t>This solution will support applications like GNSS-based tolling by providing precise information on the vehicle’s movement, ensuring accurate toll calculations.</a:t>
            </a:r>
            <a:endParaRPr lang="en-IN" sz="1600" dirty="0">
              <a:solidFill>
                <a:srgbClr val="010000"/>
              </a:solidFill>
            </a:endParaRPr>
          </a:p>
          <a:p>
            <a:pPr algn="ctr"/>
            <a:endParaRPr lang="en-IN" sz="16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17734" y="6222482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" y="78659"/>
            <a:ext cx="1455173" cy="62066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lgerian" panose="04020705040A02060702" pitchFamily="82" charset="0"/>
            </a:endParaRPr>
          </a:p>
          <a:p>
            <a:pPr algn="ctr"/>
            <a:r>
              <a:rPr lang="en-US" dirty="0">
                <a:latin typeface="Algerian" panose="04020705040A02060702" pitchFamily="82" charset="0"/>
              </a:rPr>
              <a:t>Tech Hawks’</a:t>
            </a:r>
            <a:endParaRPr lang="en-IN" dirty="0">
              <a:latin typeface="Algerian" panose="04020705040A02060702" pitchFamily="82" charset="0"/>
            </a:endParaRPr>
          </a:p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4AD149-2A27-21CF-9412-E3CDA9F93FAA}"/>
              </a:ext>
            </a:extLst>
          </p:cNvPr>
          <p:cNvSpPr/>
          <p:nvPr/>
        </p:nvSpPr>
        <p:spPr>
          <a:xfrm>
            <a:off x="7134566" y="743926"/>
            <a:ext cx="4719484" cy="55290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rgbClr val="010000"/>
                </a:solidFill>
              </a:rPr>
              <a:t>Making Diffused and </a:t>
            </a:r>
            <a:r>
              <a:rPr lang="en-US" b="1" u="sng" dirty="0" err="1">
                <a:solidFill>
                  <a:srgbClr val="010000"/>
                </a:solidFill>
              </a:rPr>
              <a:t>Breaked</a:t>
            </a:r>
            <a:r>
              <a:rPr lang="en-US" b="1" u="sng" dirty="0">
                <a:solidFill>
                  <a:srgbClr val="010000"/>
                </a:solidFill>
              </a:rPr>
              <a:t> data continuous</a:t>
            </a:r>
          </a:p>
          <a:p>
            <a:r>
              <a:rPr lang="en-US" dirty="0">
                <a:solidFill>
                  <a:srgbClr val="010000"/>
                </a:solidFill>
              </a:rPr>
              <a:t>      </a:t>
            </a:r>
            <a:r>
              <a:rPr lang="en-US" sz="1400" dirty="0">
                <a:solidFill>
                  <a:srgbClr val="010000"/>
                </a:solidFill>
              </a:rPr>
              <a:t>By using the LSTM and SSR Model which is use to precise the diffused         Coordinates and predict expected road for </a:t>
            </a:r>
            <a:r>
              <a:rPr lang="en-US" sz="1400" dirty="0" err="1">
                <a:solidFill>
                  <a:srgbClr val="010000"/>
                </a:solidFill>
              </a:rPr>
              <a:t>breakes</a:t>
            </a:r>
            <a:r>
              <a:rPr lang="en-US" sz="1400" dirty="0">
                <a:solidFill>
                  <a:srgbClr val="01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rgbClr val="010000"/>
                </a:solidFill>
              </a:rPr>
              <a:t>Precise Map Matching</a:t>
            </a:r>
          </a:p>
          <a:p>
            <a:r>
              <a:rPr lang="en-US" dirty="0">
                <a:solidFill>
                  <a:srgbClr val="010000"/>
                </a:solidFill>
              </a:rPr>
              <a:t>      </a:t>
            </a:r>
            <a:r>
              <a:rPr lang="en-US" sz="1400" dirty="0">
                <a:solidFill>
                  <a:srgbClr val="010000"/>
                </a:solidFill>
              </a:rPr>
              <a:t>By using the OSRM we are matching the map from the given Electronic Map.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rgbClr val="010000"/>
                </a:solidFill>
              </a:rPr>
              <a:t>Comparing E-map’s pixels with real time coordinate</a:t>
            </a:r>
          </a:p>
          <a:p>
            <a:r>
              <a:rPr lang="en-US" sz="1400" dirty="0">
                <a:solidFill>
                  <a:srgbClr val="010000"/>
                </a:solidFill>
              </a:rPr>
              <a:t>        OSRM has a inbuild function which converts E-map pixel into latitude and longitude and compare with real time </a:t>
            </a:r>
            <a:r>
              <a:rPr lang="en-IN" sz="1400" dirty="0">
                <a:solidFill>
                  <a:srgbClr val="010000"/>
                </a:solidFill>
              </a:rPr>
              <a:t>coordinate. </a:t>
            </a:r>
            <a:endParaRPr lang="en-US" sz="1400" dirty="0">
              <a:solidFill>
                <a:srgbClr val="01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rgbClr val="010000"/>
                </a:solidFill>
              </a:rPr>
              <a:t>Improper plotting of coordinate on the map</a:t>
            </a:r>
          </a:p>
          <a:p>
            <a:r>
              <a:rPr lang="en-US" sz="1400" dirty="0">
                <a:solidFill>
                  <a:srgbClr val="010000"/>
                </a:solidFill>
              </a:rPr>
              <a:t>         We have an algorithm that c</a:t>
            </a:r>
            <a:r>
              <a:rPr lang="en-US" sz="1400" dirty="0"/>
              <a:t>alculates how close candidate’s road segment is to the GPS point by path smoothing method.</a:t>
            </a:r>
            <a:endParaRPr lang="en-US" sz="1400" dirty="0">
              <a:solidFill>
                <a:srgbClr val="01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rgbClr val="010000"/>
                </a:solidFill>
              </a:rPr>
              <a:t>Classification of Highways and Service roads</a:t>
            </a:r>
            <a:endParaRPr lang="en-US" b="1" dirty="0">
              <a:solidFill>
                <a:srgbClr val="010000"/>
              </a:solidFill>
            </a:endParaRPr>
          </a:p>
          <a:p>
            <a:r>
              <a:rPr lang="en-US" sz="1400" b="1" dirty="0">
                <a:solidFill>
                  <a:srgbClr val="010000"/>
                </a:solidFill>
              </a:rPr>
              <a:t>         </a:t>
            </a:r>
            <a:r>
              <a:rPr lang="en-US" sz="1400" dirty="0">
                <a:solidFill>
                  <a:srgbClr val="010000"/>
                </a:solidFill>
              </a:rPr>
              <a:t>We have used Classification Model of Supervise Machine Learning in our      ML Code for classifying the road segment to Highway and Service Road.</a:t>
            </a:r>
            <a:endParaRPr lang="en-IN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58BE487-D023-7A2D-C508-75A8FDA88764}"/>
              </a:ext>
            </a:extLst>
          </p:cNvPr>
          <p:cNvSpPr txBox="1">
            <a:spLocks/>
          </p:cNvSpPr>
          <p:nvPr/>
        </p:nvSpPr>
        <p:spPr bwMode="auto">
          <a:xfrm>
            <a:off x="8301967" y="50553"/>
            <a:ext cx="2384681" cy="575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cap="all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200"/>
              <a:t>challenges                            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17734" y="6222482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" y="78659"/>
            <a:ext cx="1455173" cy="62066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lgerian" panose="04020705040A02060702" pitchFamily="82" charset="0"/>
            </a:endParaRPr>
          </a:p>
          <a:p>
            <a:pPr algn="ctr"/>
            <a:r>
              <a:rPr lang="en-US" dirty="0">
                <a:latin typeface="Algerian" panose="04020705040A02060702" pitchFamily="82" charset="0"/>
              </a:rPr>
              <a:t>Tech Hawks’</a:t>
            </a:r>
            <a:endParaRPr lang="en-IN" dirty="0">
              <a:latin typeface="Algerian" panose="04020705040A02060702" pitchFamily="82" charset="0"/>
            </a:endParaRPr>
          </a:p>
          <a:p>
            <a:pPr algn="ctr"/>
            <a:endParaRPr lang="en-IN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FDE19C-CD19-F6CD-8A62-BEC9FE408569}"/>
              </a:ext>
            </a:extLst>
          </p:cNvPr>
          <p:cNvSpPr txBox="1"/>
          <p:nvPr/>
        </p:nvSpPr>
        <p:spPr>
          <a:xfrm>
            <a:off x="8126015" y="78097"/>
            <a:ext cx="3802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O.S.R.M. Map Matching</a:t>
            </a:r>
            <a:endParaRPr lang="en-IN" sz="2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90478A-BF66-7C66-246A-9FAED3269E06}"/>
              </a:ext>
            </a:extLst>
          </p:cNvPr>
          <p:cNvSpPr txBox="1"/>
          <p:nvPr/>
        </p:nvSpPr>
        <p:spPr>
          <a:xfrm>
            <a:off x="7835552" y="543760"/>
            <a:ext cx="4421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[OSRM is open Source model and provide real time map matching]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741A2B2-6968-92F7-7577-6A4EDA560A15}"/>
              </a:ext>
            </a:extLst>
          </p:cNvPr>
          <p:cNvSpPr/>
          <p:nvPr/>
        </p:nvSpPr>
        <p:spPr>
          <a:xfrm>
            <a:off x="9093094" y="856392"/>
            <a:ext cx="1667524" cy="35902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GPS Signal</a:t>
            </a:r>
            <a:endParaRPr lang="en-IN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51B21B2-560A-B170-0479-193504BD4820}"/>
              </a:ext>
            </a:extLst>
          </p:cNvPr>
          <p:cNvSpPr/>
          <p:nvPr/>
        </p:nvSpPr>
        <p:spPr>
          <a:xfrm>
            <a:off x="8545370" y="1477769"/>
            <a:ext cx="2784839" cy="5178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OSRM Model</a:t>
            </a:r>
          </a:p>
          <a:p>
            <a:pPr algn="ctr"/>
            <a:r>
              <a:rPr lang="en-US" sz="1400" dirty="0">
                <a:solidFill>
                  <a:srgbClr val="010000"/>
                </a:solidFill>
              </a:rPr>
              <a:t>{Having E – Map for align GPS data}</a:t>
            </a:r>
            <a:endParaRPr lang="en-IN" sz="14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2542A9-0F14-9833-48B2-57A9E049ADDB}"/>
              </a:ext>
            </a:extLst>
          </p:cNvPr>
          <p:cNvSpPr/>
          <p:nvPr/>
        </p:nvSpPr>
        <p:spPr>
          <a:xfrm>
            <a:off x="8143777" y="3172056"/>
            <a:ext cx="1783079" cy="989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/>
              <a:t>Distance Calculation</a:t>
            </a:r>
          </a:p>
          <a:p>
            <a:pPr algn="ctr"/>
            <a:r>
              <a:rPr lang="en-US" sz="1200" dirty="0"/>
              <a:t>Calculates how close  candidate’s road segment is to the GPS point for </a:t>
            </a:r>
            <a:r>
              <a:rPr lang="en-IN" sz="1200" b="1" dirty="0"/>
              <a:t>Path Smoothing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8CE6026-2B74-C493-E458-09ECEFF2902A}"/>
              </a:ext>
            </a:extLst>
          </p:cNvPr>
          <p:cNvSpPr/>
          <p:nvPr/>
        </p:nvSpPr>
        <p:spPr>
          <a:xfrm>
            <a:off x="10032421" y="3172056"/>
            <a:ext cx="1796469" cy="989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b="1" dirty="0"/>
              <a:t>Cost Calculation</a:t>
            </a:r>
          </a:p>
          <a:p>
            <a:pPr algn="ctr"/>
            <a:r>
              <a:rPr lang="en-IN" sz="1200" dirty="0"/>
              <a:t>Calculates </a:t>
            </a:r>
            <a:r>
              <a:rPr lang="en-US" sz="1200" dirty="0"/>
              <a:t>factors such as distance, road type, and other relevant attributes</a:t>
            </a:r>
          </a:p>
          <a:p>
            <a:pPr algn="ctr"/>
            <a:r>
              <a:rPr lang="en-IN" sz="1200" b="1" dirty="0"/>
              <a:t>Segment Selection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684488A-6A70-6C26-61C4-2CDE928B08BF}"/>
              </a:ext>
            </a:extLst>
          </p:cNvPr>
          <p:cNvSpPr/>
          <p:nvPr/>
        </p:nvSpPr>
        <p:spPr>
          <a:xfrm>
            <a:off x="8137669" y="2287341"/>
            <a:ext cx="3578374" cy="5392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Proximity Search</a:t>
            </a:r>
          </a:p>
          <a:p>
            <a:pPr algn="ctr"/>
            <a:r>
              <a:rPr lang="en-IN" sz="1400" dirty="0"/>
              <a:t>{Identify Road Segment for each co-ordinate}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D35EE77-D55B-A03D-14AE-F9570863CBB2}"/>
              </a:ext>
            </a:extLst>
          </p:cNvPr>
          <p:cNvCxnSpPr>
            <a:cxnSpLocks/>
          </p:cNvCxnSpPr>
          <p:nvPr/>
        </p:nvCxnSpPr>
        <p:spPr>
          <a:xfrm>
            <a:off x="8843128" y="4177375"/>
            <a:ext cx="1102560" cy="189388"/>
          </a:xfrm>
          <a:prstGeom prst="bentConnector3">
            <a:avLst>
              <a:gd name="adj1" fmla="val 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694FD9-8CA0-01D3-1AB2-F667426EC9E2}"/>
              </a:ext>
            </a:extLst>
          </p:cNvPr>
          <p:cNvCxnSpPr>
            <a:cxnSpLocks/>
          </p:cNvCxnSpPr>
          <p:nvPr/>
        </p:nvCxnSpPr>
        <p:spPr>
          <a:xfrm>
            <a:off x="9956150" y="4346568"/>
            <a:ext cx="9832" cy="235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62D211C-F201-A252-38CD-B0D5CCDF980D}"/>
              </a:ext>
            </a:extLst>
          </p:cNvPr>
          <p:cNvSpPr/>
          <p:nvPr/>
        </p:nvSpPr>
        <p:spPr>
          <a:xfrm>
            <a:off x="9350479" y="5171767"/>
            <a:ext cx="1248702" cy="3244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IN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9173296-6285-4C4D-30FA-017416F33621}"/>
              </a:ext>
            </a:extLst>
          </p:cNvPr>
          <p:cNvCxnSpPr>
            <a:stCxn id="61" idx="2"/>
          </p:cNvCxnSpPr>
          <p:nvPr/>
        </p:nvCxnSpPr>
        <p:spPr>
          <a:xfrm>
            <a:off x="9974830" y="5496232"/>
            <a:ext cx="0" cy="167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BF8820-1C8D-C666-521F-F6C64A895BB2}"/>
              </a:ext>
            </a:extLst>
          </p:cNvPr>
          <p:cNvCxnSpPr>
            <a:cxnSpLocks/>
          </p:cNvCxnSpPr>
          <p:nvPr/>
        </p:nvCxnSpPr>
        <p:spPr>
          <a:xfrm flipH="1">
            <a:off x="8514735" y="5643716"/>
            <a:ext cx="1450599" cy="98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3ECA815-EA4B-5063-CBBC-80866BB59396}"/>
              </a:ext>
            </a:extLst>
          </p:cNvPr>
          <p:cNvCxnSpPr>
            <a:cxnSpLocks/>
          </p:cNvCxnSpPr>
          <p:nvPr/>
        </p:nvCxnSpPr>
        <p:spPr>
          <a:xfrm flipH="1">
            <a:off x="9988275" y="5642581"/>
            <a:ext cx="13419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ABCD273-11A3-A2D5-A002-D65E09E3162D}"/>
              </a:ext>
            </a:extLst>
          </p:cNvPr>
          <p:cNvCxnSpPr/>
          <p:nvPr/>
        </p:nvCxnSpPr>
        <p:spPr>
          <a:xfrm>
            <a:off x="8514733" y="5642581"/>
            <a:ext cx="0" cy="187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27C3024-95C2-B6DE-BCDD-1260701BF907}"/>
              </a:ext>
            </a:extLst>
          </p:cNvPr>
          <p:cNvCxnSpPr/>
          <p:nvPr/>
        </p:nvCxnSpPr>
        <p:spPr>
          <a:xfrm>
            <a:off x="9979742" y="5652411"/>
            <a:ext cx="0" cy="187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1E90057-A620-62B1-6523-27555DAA6970}"/>
              </a:ext>
            </a:extLst>
          </p:cNvPr>
          <p:cNvCxnSpPr/>
          <p:nvPr/>
        </p:nvCxnSpPr>
        <p:spPr>
          <a:xfrm>
            <a:off x="11315463" y="5642581"/>
            <a:ext cx="0" cy="187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861AF38B-AF8D-5547-53A9-8F4E8B17027C}"/>
              </a:ext>
            </a:extLst>
          </p:cNvPr>
          <p:cNvSpPr/>
          <p:nvPr/>
        </p:nvSpPr>
        <p:spPr>
          <a:xfrm>
            <a:off x="7841426" y="5830530"/>
            <a:ext cx="1359280" cy="3736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Segments of Route</a:t>
            </a:r>
            <a:endParaRPr lang="en-IN" sz="1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BA05BC5-EED0-D8AB-EFF9-ADB81810949A}"/>
              </a:ext>
            </a:extLst>
          </p:cNvPr>
          <p:cNvSpPr/>
          <p:nvPr/>
        </p:nvSpPr>
        <p:spPr>
          <a:xfrm>
            <a:off x="9422993" y="5839023"/>
            <a:ext cx="1150811" cy="3651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Type of Route</a:t>
            </a:r>
            <a:endParaRPr lang="en-IN" sz="12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0F4EFF6-3135-0A71-6EA3-78E67E9DAB4A}"/>
              </a:ext>
            </a:extLst>
          </p:cNvPr>
          <p:cNvSpPr/>
          <p:nvPr/>
        </p:nvSpPr>
        <p:spPr>
          <a:xfrm>
            <a:off x="10921183" y="5856414"/>
            <a:ext cx="828361" cy="3477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Velocity</a:t>
            </a:r>
            <a:endParaRPr lang="en-IN" sz="12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5C4809E-FBA9-4A5E-1ED3-DD1950F0E1F1}"/>
              </a:ext>
            </a:extLst>
          </p:cNvPr>
          <p:cNvCxnSpPr>
            <a:cxnSpLocks/>
          </p:cNvCxnSpPr>
          <p:nvPr/>
        </p:nvCxnSpPr>
        <p:spPr>
          <a:xfrm>
            <a:off x="9917024" y="1215418"/>
            <a:ext cx="10934" cy="262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E543AE2-B2CF-B83A-B118-58CA823547BD}"/>
              </a:ext>
            </a:extLst>
          </p:cNvPr>
          <p:cNvCxnSpPr/>
          <p:nvPr/>
        </p:nvCxnSpPr>
        <p:spPr>
          <a:xfrm>
            <a:off x="9940414" y="1986180"/>
            <a:ext cx="5274" cy="314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0FFD696-DD1A-DFD1-3464-E33F28BF095F}"/>
              </a:ext>
            </a:extLst>
          </p:cNvPr>
          <p:cNvCxnSpPr>
            <a:cxnSpLocks/>
          </p:cNvCxnSpPr>
          <p:nvPr/>
        </p:nvCxnSpPr>
        <p:spPr>
          <a:xfrm>
            <a:off x="9936688" y="2826607"/>
            <a:ext cx="0" cy="13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590943C-31B6-0FDE-AB98-C2085C0C3545}"/>
              </a:ext>
            </a:extLst>
          </p:cNvPr>
          <p:cNvCxnSpPr/>
          <p:nvPr/>
        </p:nvCxnSpPr>
        <p:spPr>
          <a:xfrm>
            <a:off x="8799871" y="2959513"/>
            <a:ext cx="221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55425CC-7D0C-DA2C-91E0-4201B41EFABB}"/>
              </a:ext>
            </a:extLst>
          </p:cNvPr>
          <p:cNvCxnSpPr/>
          <p:nvPr/>
        </p:nvCxnSpPr>
        <p:spPr>
          <a:xfrm>
            <a:off x="8799871" y="2959513"/>
            <a:ext cx="0" cy="212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FFF7E7F-E54A-45BE-B2BB-43FC1ED9DE8C}"/>
              </a:ext>
            </a:extLst>
          </p:cNvPr>
          <p:cNvCxnSpPr/>
          <p:nvPr/>
        </p:nvCxnSpPr>
        <p:spPr>
          <a:xfrm>
            <a:off x="11007219" y="2954597"/>
            <a:ext cx="0" cy="212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6D42628-8C52-A4B7-C161-C402A30BE7D4}"/>
              </a:ext>
            </a:extLst>
          </p:cNvPr>
          <p:cNvCxnSpPr>
            <a:cxnSpLocks/>
          </p:cNvCxnSpPr>
          <p:nvPr/>
        </p:nvCxnSpPr>
        <p:spPr>
          <a:xfrm flipV="1">
            <a:off x="9936489" y="4161965"/>
            <a:ext cx="1092490" cy="20971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1371CE7-C47A-A994-7C8A-D6E18A81ECBE}"/>
              </a:ext>
            </a:extLst>
          </p:cNvPr>
          <p:cNvSpPr/>
          <p:nvPr/>
        </p:nvSpPr>
        <p:spPr>
          <a:xfrm>
            <a:off x="9190874" y="4582416"/>
            <a:ext cx="1579530" cy="3969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Path Assembly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4B0FBBB-BE21-8C51-5CE6-FD2FF58135C2}"/>
              </a:ext>
            </a:extLst>
          </p:cNvPr>
          <p:cNvCxnSpPr>
            <a:cxnSpLocks/>
            <a:stCxn id="81" idx="2"/>
          </p:cNvCxnSpPr>
          <p:nvPr/>
        </p:nvCxnSpPr>
        <p:spPr>
          <a:xfrm flipH="1">
            <a:off x="9979746" y="4979375"/>
            <a:ext cx="893" cy="197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A8AED1-9A5B-D7ED-13C2-49E881FA69D5}"/>
              </a:ext>
            </a:extLst>
          </p:cNvPr>
          <p:cNvSpPr txBox="1"/>
          <p:nvPr/>
        </p:nvSpPr>
        <p:spPr>
          <a:xfrm>
            <a:off x="2598887" y="68021"/>
            <a:ext cx="3802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L.S.T.M. Precision Model</a:t>
            </a:r>
            <a:endParaRPr lang="en-IN" sz="2800" b="1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E46799D1-E233-63F5-5ED8-6010CEE6102B}"/>
              </a:ext>
            </a:extLst>
          </p:cNvPr>
          <p:cNvSpPr/>
          <p:nvPr/>
        </p:nvSpPr>
        <p:spPr>
          <a:xfrm>
            <a:off x="2568505" y="1004077"/>
            <a:ext cx="2035980" cy="877991"/>
          </a:xfrm>
          <a:prstGeom prst="flowChartConnec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LSTNM model for refining GPS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4D6DDC-CC96-B48C-46E8-A2099850254B}"/>
              </a:ext>
            </a:extLst>
          </p:cNvPr>
          <p:cNvCxnSpPr/>
          <p:nvPr/>
        </p:nvCxnSpPr>
        <p:spPr>
          <a:xfrm>
            <a:off x="3534652" y="2001305"/>
            <a:ext cx="0" cy="403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20768C96-AA10-9ABC-0D62-0D1BF847737E}"/>
              </a:ext>
            </a:extLst>
          </p:cNvPr>
          <p:cNvSpPr/>
          <p:nvPr/>
        </p:nvSpPr>
        <p:spPr>
          <a:xfrm>
            <a:off x="2654663" y="2486660"/>
            <a:ext cx="1648753" cy="813732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/>
              <a:t>DATA PREPARATION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B9DCBBDB-DEB2-1780-C86E-7983320A6056}"/>
              </a:ext>
            </a:extLst>
          </p:cNvPr>
          <p:cNvSpPr/>
          <p:nvPr/>
        </p:nvSpPr>
        <p:spPr>
          <a:xfrm>
            <a:off x="4881410" y="2203144"/>
            <a:ext cx="394280" cy="1314972"/>
          </a:xfrm>
          <a:prstGeom prst="leftBrace">
            <a:avLst>
              <a:gd name="adj1" fmla="val 54795"/>
              <a:gd name="adj2" fmla="val 4557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4A5EB2B-6659-085C-CCC2-FA538E026827}"/>
              </a:ext>
            </a:extLst>
          </p:cNvPr>
          <p:cNvSpPr/>
          <p:nvPr/>
        </p:nvSpPr>
        <p:spPr>
          <a:xfrm>
            <a:off x="4368325" y="2675488"/>
            <a:ext cx="472321" cy="25721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48991-0E8D-9086-29AC-9D472BE105C8}"/>
              </a:ext>
            </a:extLst>
          </p:cNvPr>
          <p:cNvSpPr/>
          <p:nvPr/>
        </p:nvSpPr>
        <p:spPr>
          <a:xfrm>
            <a:off x="5238905" y="2263652"/>
            <a:ext cx="1281757" cy="40367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Raw GPS Data collection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69F768-D894-E9BF-761E-9F43E7E57340}"/>
              </a:ext>
            </a:extLst>
          </p:cNvPr>
          <p:cNvSpPr/>
          <p:nvPr/>
        </p:nvSpPr>
        <p:spPr>
          <a:xfrm>
            <a:off x="5539543" y="2585918"/>
            <a:ext cx="1133848" cy="36124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Data preprocessing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F0C01F-1A6D-0B6D-6992-37DF96D43933}"/>
              </a:ext>
            </a:extLst>
          </p:cNvPr>
          <p:cNvSpPr/>
          <p:nvPr/>
        </p:nvSpPr>
        <p:spPr>
          <a:xfrm>
            <a:off x="5683611" y="2891371"/>
            <a:ext cx="1122768" cy="3147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Feature Engineering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8C74C1-FC20-3214-7C12-CF7722C2F1E4}"/>
              </a:ext>
            </a:extLst>
          </p:cNvPr>
          <p:cNvSpPr/>
          <p:nvPr/>
        </p:nvSpPr>
        <p:spPr>
          <a:xfrm>
            <a:off x="5906748" y="3142996"/>
            <a:ext cx="1122768" cy="3147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Sequence Creation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CF63CC-90C2-C72F-4DF4-9CDEDB1D4AAB}"/>
              </a:ext>
            </a:extLst>
          </p:cNvPr>
          <p:cNvCxnSpPr/>
          <p:nvPr/>
        </p:nvCxnSpPr>
        <p:spPr>
          <a:xfrm>
            <a:off x="3544276" y="3379033"/>
            <a:ext cx="0" cy="411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29">
            <a:extLst>
              <a:ext uri="{FF2B5EF4-FFF2-40B4-BE49-F238E27FC236}">
                <a16:creationId xmlns:a16="http://schemas.microsoft.com/office/drawing/2014/main" id="{40B85070-4C9E-EAE1-7648-2E993D91F640}"/>
              </a:ext>
            </a:extLst>
          </p:cNvPr>
          <p:cNvSpPr txBox="1"/>
          <p:nvPr/>
        </p:nvSpPr>
        <p:spPr>
          <a:xfrm>
            <a:off x="3145954" y="3804283"/>
            <a:ext cx="906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/>
            <a:r>
              <a:rPr lang="en-US" sz="1000" dirty="0"/>
              <a:t>Model Design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47F9DB-24F3-72D8-6C30-4C1AAC62B0DB}"/>
              </a:ext>
            </a:extLst>
          </p:cNvPr>
          <p:cNvSpPr/>
          <p:nvPr/>
        </p:nvSpPr>
        <p:spPr>
          <a:xfrm>
            <a:off x="2654662" y="4163537"/>
            <a:ext cx="787847" cy="44077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First LSTM layer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F986AD-554F-AABA-3766-24355D951C84}"/>
              </a:ext>
            </a:extLst>
          </p:cNvPr>
          <p:cNvSpPr/>
          <p:nvPr/>
        </p:nvSpPr>
        <p:spPr>
          <a:xfrm>
            <a:off x="3614925" y="4147492"/>
            <a:ext cx="695568" cy="44077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Second LSTM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192925-DBD4-87F2-4D07-9AC257EADBAE}"/>
              </a:ext>
            </a:extLst>
          </p:cNvPr>
          <p:cNvSpPr/>
          <p:nvPr/>
        </p:nvSpPr>
        <p:spPr>
          <a:xfrm>
            <a:off x="3216815" y="4750527"/>
            <a:ext cx="695568" cy="44077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Dens Layer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08BE77-89F7-AF00-24B4-3FCD2D5C3892}"/>
              </a:ext>
            </a:extLst>
          </p:cNvPr>
          <p:cNvSpPr/>
          <p:nvPr/>
        </p:nvSpPr>
        <p:spPr>
          <a:xfrm>
            <a:off x="5218517" y="4334009"/>
            <a:ext cx="1063867" cy="4370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OUTPUT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9122068-ADD4-1CDA-6B46-AC0750ABEC49}"/>
              </a:ext>
            </a:extLst>
          </p:cNvPr>
          <p:cNvSpPr/>
          <p:nvPr/>
        </p:nvSpPr>
        <p:spPr>
          <a:xfrm>
            <a:off x="4699430" y="4421337"/>
            <a:ext cx="472321" cy="25721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1B0601-38FB-8B3B-11B8-D724B8466251}"/>
              </a:ext>
            </a:extLst>
          </p:cNvPr>
          <p:cNvSpPr txBox="1"/>
          <p:nvPr/>
        </p:nvSpPr>
        <p:spPr>
          <a:xfrm>
            <a:off x="2985355" y="474573"/>
            <a:ext cx="323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Short Term Memory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12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6464BD-4284-A465-E81B-A6003F320DBE}"/>
              </a:ext>
            </a:extLst>
          </p:cNvPr>
          <p:cNvSpPr/>
          <p:nvPr/>
        </p:nvSpPr>
        <p:spPr>
          <a:xfrm>
            <a:off x="8523215" y="5018262"/>
            <a:ext cx="2711644" cy="71059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7" name="Picture 17416">
            <a:extLst>
              <a:ext uri="{FF2B5EF4-FFF2-40B4-BE49-F238E27FC236}">
                <a16:creationId xmlns:a16="http://schemas.microsoft.com/office/drawing/2014/main" id="{90D7E239-C788-BFA5-B093-899E85A92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82" y="4730811"/>
            <a:ext cx="2337958" cy="146301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4BE7555-E633-BB16-E82B-75CC2C6B9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500" y="806255"/>
            <a:ext cx="2899196" cy="30751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2059" y="-126046"/>
            <a:ext cx="10972800" cy="1297594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95F7A4-E030-ED63-3C47-F5A829098E92}"/>
              </a:ext>
            </a:extLst>
          </p:cNvPr>
          <p:cNvSpPr/>
          <p:nvPr/>
        </p:nvSpPr>
        <p:spPr>
          <a:xfrm>
            <a:off x="7260204" y="1751850"/>
            <a:ext cx="4906297" cy="24170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47975" y="1859339"/>
            <a:ext cx="4906297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TECHNOLOGY STACK: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ML : 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Python.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Model selection and training: 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Scikit-Learn, </a:t>
            </a:r>
            <a:r>
              <a:rPr lang="en-US" sz="1600" b="1" dirty="0" err="1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Py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-Torch, </a:t>
            </a:r>
            <a:r>
              <a:rPr lang="en-US" sz="1600" b="1" dirty="0" err="1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Tensorflow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Keras</a:t>
            </a:r>
            <a:endParaRPr lang="en-US" sz="16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Map matching : 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O.S.R.M. , Python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GNSS data handling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: L.S.T.M.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Data pre processing : 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Pandas.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Deployment</a:t>
            </a:r>
            <a:r>
              <a:rPr lang="en-US" sz="16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 : Netlify</a:t>
            </a:r>
            <a:endParaRPr lang="en-US" sz="16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US" sz="20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0951" y="274911"/>
            <a:ext cx="1558021" cy="842856"/>
          </a:xfrm>
          <a:prstGeom prst="ellipse">
            <a:avLst/>
          </a:prstGeom>
          <a:effectLst>
            <a:outerShdw blurRad="50800" dist="50800" dir="5400000" algn="ctr" rotWithShape="0">
              <a:srgbClr val="000000">
                <a:alpha val="71000"/>
              </a:srgb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>
              <a:latin typeface="Algerian" panose="04020705040A02060702" pitchFamily="82" charset="0"/>
            </a:endParaRPr>
          </a:p>
          <a:p>
            <a:pPr algn="ctr"/>
            <a:r>
              <a:rPr lang="en-US" dirty="0">
                <a:effectLst>
                  <a:outerShdw dist="38100" dir="2700000" algn="tl">
                    <a:srgbClr val="000000">
                      <a:alpha val="0"/>
                    </a:srgbClr>
                  </a:outerShdw>
                </a:effectLst>
                <a:latin typeface="Algerian" panose="04020705040A02060702" pitchFamily="82" charset="0"/>
              </a:rPr>
              <a:t>Tech Hawks</a:t>
            </a:r>
            <a:r>
              <a:rPr lang="en-US" dirty="0">
                <a:latin typeface="Algerian" panose="04020705040A02060702" pitchFamily="82" charset="0"/>
              </a:rPr>
              <a:t>’</a:t>
            </a:r>
            <a:endParaRPr lang="en-IN" dirty="0">
              <a:latin typeface="Algerian" panose="04020705040A02060702" pitchFamily="82" charset="0"/>
            </a:endParaRP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7418" name="Arrow: Right 17417">
            <a:extLst>
              <a:ext uri="{FF2B5EF4-FFF2-40B4-BE49-F238E27FC236}">
                <a16:creationId xmlns:a16="http://schemas.microsoft.com/office/drawing/2014/main" id="{2C154350-81DB-5A57-D3D9-EC072F7D74C8}"/>
              </a:ext>
            </a:extLst>
          </p:cNvPr>
          <p:cNvSpPr/>
          <p:nvPr/>
        </p:nvSpPr>
        <p:spPr>
          <a:xfrm>
            <a:off x="3779113" y="5206469"/>
            <a:ext cx="1662171" cy="298908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DB401C32-3E58-5874-FEB3-AD171F2BB2D9}"/>
              </a:ext>
            </a:extLst>
          </p:cNvPr>
          <p:cNvSpPr/>
          <p:nvPr/>
        </p:nvSpPr>
        <p:spPr>
          <a:xfrm>
            <a:off x="4092599" y="5557816"/>
            <a:ext cx="973393" cy="309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F2E702-46D8-0FDD-318A-E3307D066C80}"/>
              </a:ext>
            </a:extLst>
          </p:cNvPr>
          <p:cNvSpPr/>
          <p:nvPr/>
        </p:nvSpPr>
        <p:spPr>
          <a:xfrm>
            <a:off x="101753" y="1882609"/>
            <a:ext cx="3454439" cy="43438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4F905-E719-8EA5-0626-348BBD29C343}"/>
              </a:ext>
            </a:extLst>
          </p:cNvPr>
          <p:cNvSpPr txBox="1"/>
          <p:nvPr/>
        </p:nvSpPr>
        <p:spPr>
          <a:xfrm>
            <a:off x="1634428" y="2049499"/>
            <a:ext cx="157961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Data collection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772487-DAB3-289E-60E2-714D158FA0F6}"/>
              </a:ext>
            </a:extLst>
          </p:cNvPr>
          <p:cNvCxnSpPr>
            <a:cxnSpLocks/>
          </p:cNvCxnSpPr>
          <p:nvPr/>
        </p:nvCxnSpPr>
        <p:spPr>
          <a:xfrm>
            <a:off x="2404570" y="2544115"/>
            <a:ext cx="0" cy="449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D7D7C3-CFA5-434B-56E5-BBC66F4A7E89}"/>
              </a:ext>
            </a:extLst>
          </p:cNvPr>
          <p:cNvSpPr txBox="1"/>
          <p:nvPr/>
        </p:nvSpPr>
        <p:spPr>
          <a:xfrm>
            <a:off x="1692611" y="4944626"/>
            <a:ext cx="146324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Classification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2480AD-B6B1-64EB-06A9-7ADC4D3A4DF4}"/>
              </a:ext>
            </a:extLst>
          </p:cNvPr>
          <p:cNvCxnSpPr>
            <a:cxnSpLocks/>
          </p:cNvCxnSpPr>
          <p:nvPr/>
        </p:nvCxnSpPr>
        <p:spPr>
          <a:xfrm>
            <a:off x="2389544" y="3547314"/>
            <a:ext cx="0" cy="373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ADBF4F-1E61-04EF-C87F-30804818B2A2}"/>
              </a:ext>
            </a:extLst>
          </p:cNvPr>
          <p:cNvSpPr txBox="1"/>
          <p:nvPr/>
        </p:nvSpPr>
        <p:spPr>
          <a:xfrm>
            <a:off x="1979329" y="3119234"/>
            <a:ext cx="83587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LSTM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BDD77C-DBB1-3AAB-C423-0BB58CBDE426}"/>
              </a:ext>
            </a:extLst>
          </p:cNvPr>
          <p:cNvSpPr txBox="1"/>
          <p:nvPr/>
        </p:nvSpPr>
        <p:spPr>
          <a:xfrm>
            <a:off x="1551565" y="5728858"/>
            <a:ext cx="16042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Model Deploy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7777F-EC08-B4C5-EBFF-76C6DA0266D5}"/>
              </a:ext>
            </a:extLst>
          </p:cNvPr>
          <p:cNvSpPr txBox="1"/>
          <p:nvPr/>
        </p:nvSpPr>
        <p:spPr>
          <a:xfrm>
            <a:off x="1915012" y="4031930"/>
            <a:ext cx="9490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OSRM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8A9A07-068B-DB4A-1385-FFDADEFF9A31}"/>
              </a:ext>
            </a:extLst>
          </p:cNvPr>
          <p:cNvCxnSpPr>
            <a:cxnSpLocks/>
          </p:cNvCxnSpPr>
          <p:nvPr/>
        </p:nvCxnSpPr>
        <p:spPr>
          <a:xfrm>
            <a:off x="2380487" y="4515366"/>
            <a:ext cx="0" cy="322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6C6B82-B507-2A7A-D73D-FB760A17EC4F}"/>
              </a:ext>
            </a:extLst>
          </p:cNvPr>
          <p:cNvCxnSpPr>
            <a:cxnSpLocks/>
          </p:cNvCxnSpPr>
          <p:nvPr/>
        </p:nvCxnSpPr>
        <p:spPr>
          <a:xfrm>
            <a:off x="2376851" y="5335838"/>
            <a:ext cx="0" cy="317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Bent 20">
            <a:extLst>
              <a:ext uri="{FF2B5EF4-FFF2-40B4-BE49-F238E27FC236}">
                <a16:creationId xmlns:a16="http://schemas.microsoft.com/office/drawing/2014/main" id="{CAE32E7B-2A5F-DB1E-39CD-02A22E895E84}"/>
              </a:ext>
            </a:extLst>
          </p:cNvPr>
          <p:cNvSpPr/>
          <p:nvPr/>
        </p:nvSpPr>
        <p:spPr>
          <a:xfrm rot="10800000">
            <a:off x="3961974" y="3617032"/>
            <a:ext cx="1553308" cy="652113"/>
          </a:xfrm>
          <a:prstGeom prst="ben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7" name="Graphic 36" descr="Database with solid fill">
            <a:extLst>
              <a:ext uri="{FF2B5EF4-FFF2-40B4-BE49-F238E27FC236}">
                <a16:creationId xmlns:a16="http://schemas.microsoft.com/office/drawing/2014/main" id="{3C9C7507-7804-D15B-E848-7234E4B1DA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9" y="3048239"/>
            <a:ext cx="1418250" cy="14182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0B21FF-DD41-07B1-0C3F-16519CD7ECF6}"/>
              </a:ext>
            </a:extLst>
          </p:cNvPr>
          <p:cNvSpPr txBox="1"/>
          <p:nvPr/>
        </p:nvSpPr>
        <p:spPr>
          <a:xfrm>
            <a:off x="222287" y="4281823"/>
            <a:ext cx="107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Database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AC301EC-F1EF-9B16-3112-949D326C776A}"/>
              </a:ext>
            </a:extLst>
          </p:cNvPr>
          <p:cNvCxnSpPr>
            <a:cxnSpLocks/>
          </p:cNvCxnSpPr>
          <p:nvPr/>
        </p:nvCxnSpPr>
        <p:spPr>
          <a:xfrm flipH="1">
            <a:off x="1314050" y="3323999"/>
            <a:ext cx="5345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C2CA429-0DA5-8A52-B12D-C89C38040604}"/>
              </a:ext>
            </a:extLst>
          </p:cNvPr>
          <p:cNvCxnSpPr>
            <a:cxnSpLocks/>
          </p:cNvCxnSpPr>
          <p:nvPr/>
        </p:nvCxnSpPr>
        <p:spPr>
          <a:xfrm>
            <a:off x="1316595" y="4168877"/>
            <a:ext cx="5320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C4EA008-3AEB-FEC2-C7F2-353D57AF727B}"/>
              </a:ext>
            </a:extLst>
          </p:cNvPr>
          <p:cNvSpPr txBox="1"/>
          <p:nvPr/>
        </p:nvSpPr>
        <p:spPr>
          <a:xfrm>
            <a:off x="8644807" y="5121597"/>
            <a:ext cx="259005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  <a:hlinkClick r:id="rId8"/>
              </a:rPr>
              <a:t>Prototype Model</a:t>
            </a:r>
            <a:endParaRPr lang="en-US" sz="2400" dirty="0">
              <a:latin typeface="+mn-lt"/>
            </a:endParaRPr>
          </a:p>
          <a:p>
            <a:endParaRPr lang="en-US" sz="1500" dirty="0">
              <a:latin typeface="+mn-lt"/>
            </a:endParaRPr>
          </a:p>
          <a:p>
            <a:endParaRPr lang="en-US" sz="1500" dirty="0">
              <a:latin typeface="+mn-lt"/>
            </a:endParaRPr>
          </a:p>
          <a:p>
            <a:endParaRPr lang="en-US" sz="15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D1CA22-B5D1-2CBC-140B-0BC344D11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1109" y="1084887"/>
            <a:ext cx="1406968" cy="549128"/>
          </a:xfrm>
        </p:spPr>
        <p:txBody>
          <a:bodyPr/>
          <a:lstStyle/>
          <a:p>
            <a:r>
              <a:rPr lang="en-US" sz="2800" dirty="0">
                <a:solidFill>
                  <a:srgbClr val="00B050"/>
                </a:solidFill>
              </a:rPr>
              <a:t>Benefits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BD786E-5683-D973-D45D-6DB72E10E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1109" y="1716842"/>
            <a:ext cx="9979743" cy="413423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212529"/>
              </a:solidFill>
              <a:effectLst/>
              <a:latin typeface="montserratregular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79112"/>
            <a:ext cx="1598304" cy="7707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latin typeface="Algerian" panose="04020705040A02060702" pitchFamily="82" charset="0"/>
              </a:rPr>
              <a:t>Tech Hawks’</a:t>
            </a:r>
            <a:endParaRPr lang="en-IN" dirty="0">
              <a:latin typeface="Algerian" panose="04020705040A02060702" pitchFamily="82" charset="0"/>
            </a:endParaRPr>
          </a:p>
          <a:p>
            <a:pPr algn="ctr"/>
            <a:endParaRPr lang="en-IN" dirty="0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ED8480DF-55EC-DCB0-7501-F22916F1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8" y="1667485"/>
            <a:ext cx="9979743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Precise Road Type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(highway vs service road) in real-time.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Globally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adaptability to different geographic regions.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Driver Safety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guiding vehicles appropriately based on road type.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Facilitates Regulatory Compliance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GNSS-based tolling and road usage monitoring.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Vehicle Tracking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GNSS data for real-time location updates.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b="1" dirty="0"/>
              <a:t>Supports Smart City Applications</a:t>
            </a:r>
            <a:r>
              <a:rPr lang="en-US" sz="2000" dirty="0"/>
              <a:t> like tolling, congestion charging, and traffic management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356085EE-6E26-B32A-BCBB-4C36F8081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9" y="3705515"/>
            <a:ext cx="8602360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reducing infrastructure and operational expenses.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Resilience to Poor GNSS Signals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handling of noisy or intermittent data. 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99768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329610" y="907782"/>
            <a:ext cx="11670185" cy="5719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000" b="1" i="0" u="none" strike="noStrike" kern="1200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References: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L.S.T.M</a:t>
            </a: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/>
              <a:t>LSTM predicts accurate road sequences by learning from GPS data.</a:t>
            </a:r>
            <a:endParaRPr lang="en-US" b="0" i="0" dirty="0">
              <a:effectLst/>
              <a:latin typeface="-apple-system"/>
            </a:endParaRP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-apple-system"/>
                <a:cs typeface="Arial" pitchFamily="34" charset="0"/>
              </a:rPr>
              <a:t>	</a:t>
            </a:r>
            <a:r>
              <a:rPr lang="en-US" dirty="0">
                <a:solidFill>
                  <a:prstClr val="black"/>
                </a:solidFill>
                <a:latin typeface="-apple-system"/>
                <a:cs typeface="Arial" pitchFamily="34" charset="0"/>
              </a:rPr>
              <a:t>For Details :</a:t>
            </a:r>
            <a:r>
              <a:rPr lang="en-US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Click Here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Scikit-Learn: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Simple and efficient tools for predictive data analysis.</a:t>
            </a:r>
            <a:endParaRPr lang="en-US" b="0" i="0" dirty="0">
              <a:effectLst/>
              <a:latin typeface="-apple-system"/>
            </a:endParaRP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-apple-system"/>
                <a:cs typeface="Arial" pitchFamily="34" charset="0"/>
              </a:rPr>
              <a:t>	</a:t>
            </a:r>
            <a:r>
              <a:rPr lang="en-US" dirty="0">
                <a:solidFill>
                  <a:prstClr val="black"/>
                </a:solidFill>
                <a:latin typeface="-apple-system"/>
                <a:cs typeface="Arial" pitchFamily="34" charset="0"/>
              </a:rPr>
              <a:t>For Details :</a:t>
            </a: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  <a:hlinkClick r:id="rId5"/>
              </a:rPr>
              <a:t>Click Here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O.S.R.M: </a:t>
            </a:r>
            <a:r>
              <a:rPr lang="en-US" dirty="0"/>
              <a:t>OSRM performs fast and accurate map matching using OpenStreetMap data.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600" dirty="0">
                <a:solidFill>
                  <a:prstClr val="black"/>
                </a:solidFill>
                <a:latin typeface="-apple-system"/>
                <a:cs typeface="Arial" pitchFamily="34" charset="0"/>
              </a:rPr>
              <a:t>	For Details :</a:t>
            </a: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>
                <a:solidFill>
                  <a:srgbClr val="010000"/>
                </a:solidFill>
                <a:latin typeface="Arial" pitchFamily="34" charset="0"/>
                <a:cs typeface="Arial" pitchFamily="34" charset="0"/>
                <a:hlinkClick r:id="rId6"/>
              </a:rPr>
              <a:t>Click Here</a:t>
            </a:r>
            <a:endParaRPr lang="en-US" sz="1600" b="0" i="0" dirty="0">
              <a:effectLst/>
              <a:latin typeface="-apple-system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latin typeface="-apple-system"/>
              </a:rPr>
              <a:t>TRANING DATA : </a:t>
            </a:r>
            <a:r>
              <a:rPr lang="en-US" sz="160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Next Generation Simulation (NGSIM) Open Data</a:t>
            </a: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600" dirty="0">
                <a:latin typeface="-apple-system"/>
              </a:rPr>
              <a:t>          </a:t>
            </a:r>
            <a:r>
              <a:rPr lang="en-US" dirty="0">
                <a:latin typeface="-apple-system"/>
              </a:rPr>
              <a:t>For Details : </a:t>
            </a:r>
            <a:r>
              <a:rPr lang="en-US" dirty="0">
                <a:latin typeface="-apple-system"/>
                <a:hlinkClick r:id="rId3"/>
              </a:rPr>
              <a:t>Click Here</a:t>
            </a:r>
            <a:endParaRPr lang="en-US" dirty="0">
              <a:latin typeface="-apple-system"/>
            </a:endParaRP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b="0" i="0" dirty="0">
              <a:effectLst/>
              <a:latin typeface="-apple-system"/>
            </a:endParaRP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noProof="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7FDB899-1F1D-4DF8-8DFE-400B1FA431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610" y="282037"/>
            <a:ext cx="1455173" cy="62066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lgerian" panose="04020705040A02060702" pitchFamily="82" charset="0"/>
            </a:endParaRPr>
          </a:p>
          <a:p>
            <a:pPr algn="ctr"/>
            <a:r>
              <a:rPr lang="en-US" dirty="0">
                <a:latin typeface="Algerian" panose="04020705040A02060702" pitchFamily="82" charset="0"/>
              </a:rPr>
              <a:t>Tech Hawks’</a:t>
            </a:r>
            <a:endParaRPr lang="en-IN" dirty="0">
              <a:latin typeface="Algerian" panose="04020705040A02060702" pitchFamily="82" charset="0"/>
            </a:endParaRPr>
          </a:p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5292ED-4948-96FF-AE05-DA80313E892E}"/>
              </a:ext>
            </a:extLst>
          </p:cNvPr>
          <p:cNvSpPr/>
          <p:nvPr/>
        </p:nvSpPr>
        <p:spPr>
          <a:xfrm>
            <a:off x="4765352" y="5715002"/>
            <a:ext cx="2661296" cy="50323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!! THANK YOU !!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8182</TotalTime>
  <Words>803</Words>
  <Application>Microsoft Office PowerPoint</Application>
  <PresentationFormat>Widescreen</PresentationFormat>
  <Paragraphs>127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Algerian</vt:lpstr>
      <vt:lpstr>-apple-system</vt:lpstr>
      <vt:lpstr>Arial</vt:lpstr>
      <vt:lpstr>Calibri</vt:lpstr>
      <vt:lpstr>Garamond</vt:lpstr>
      <vt:lpstr>Helvetica</vt:lpstr>
      <vt:lpstr>montserratregular</vt:lpstr>
      <vt:lpstr>Times New Roman</vt:lpstr>
      <vt:lpstr>TradeGothic</vt:lpstr>
      <vt:lpstr>Wingdings</vt:lpstr>
      <vt:lpstr>Office Theme</vt:lpstr>
      <vt:lpstr>SMART INDIA HACKATHON 2024</vt:lpstr>
      <vt:lpstr>Idea / approach                            </vt:lpstr>
      <vt:lpstr>PowerPoint Presentation</vt:lpstr>
      <vt:lpstr>TECHNICAL APPROACH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MANVENDRA KUSHWAHA</cp:lastModifiedBy>
  <cp:revision>161</cp:revision>
  <dcterms:created xsi:type="dcterms:W3CDTF">2013-12-12T18:46:50Z</dcterms:created>
  <dcterms:modified xsi:type="dcterms:W3CDTF">2024-09-18T10:23:42Z</dcterms:modified>
  <cp:category/>
</cp:coreProperties>
</file>